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75488"/>
            <a:ext cx="2057400" cy="29260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FINAL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68580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400" b="1">
                <a:solidFill>
                  <a:srgbClr val="18212F"/>
                </a:solidFill>
                <a:latin typeface="Aptos"/>
              </a:rPr>
              <a:t>EngyBot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45920"/>
            <a:ext cx="64008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525E6F"/>
                </a:solidFill>
                <a:latin typeface="Aptos"/>
              </a:rPr>
              <a:t>Telegram-бот для изучения английского языка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77440"/>
            <a:ext cx="6492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Backend-first EdTech MVP</a:t>
            </a:r>
          </a:p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Micro-learning через карточки, квизы, daily practice и review</a:t>
            </a:r>
          </a:p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Python 3.12, aiogram 3, SQLAlchemy 2, PostgreSQL,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143000"/>
            <a:ext cx="3611880" cy="470916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481328"/>
            <a:ext cx="2926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Aptos"/>
              </a:rPr>
              <a:t>Proof points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965960"/>
            <a:ext cx="118872" cy="42062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94192" y="1947672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525E6F"/>
                </a:solidFill>
                <a:latin typeface="Aptos"/>
              </a:rPr>
              <a:t>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2157984"/>
            <a:ext cx="2514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8212F"/>
                </a:solidFill>
                <a:latin typeface="Aptos"/>
              </a:rPr>
              <a:t>Python + aiogram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2715768"/>
            <a:ext cx="118872" cy="42062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2697479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525E6F"/>
                </a:solidFill>
                <a:latin typeface="Aptos"/>
              </a:rPr>
              <a:t>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907791"/>
            <a:ext cx="2514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8212F"/>
                </a:solidFill>
                <a:latin typeface="Aptos"/>
              </a:rPr>
              <a:t>PostgreSQL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3465575"/>
            <a:ext cx="118872" cy="42062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3447287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525E6F"/>
                </a:solidFill>
                <a:latin typeface="Aptos"/>
              </a:rPr>
              <a:t>Delivery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3657599"/>
            <a:ext cx="2514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8212F"/>
                </a:solidFill>
                <a:latin typeface="Aptos"/>
              </a:rPr>
              <a:t>Docker Compose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4215383"/>
            <a:ext cx="118872" cy="42062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4197096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525E6F"/>
                </a:solidFill>
                <a:latin typeface="Aptos"/>
              </a:rPr>
              <a:t>UX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4407407"/>
            <a:ext cx="2514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8212F"/>
                </a:solidFill>
                <a:latin typeface="Aptos"/>
              </a:rPr>
              <a:t>Inline menus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355080"/>
            <a:ext cx="5029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25E6F"/>
                </a:solidFill>
                <a:latin typeface="Aptos"/>
              </a:rPr>
              <a:t>EngyBot | Telegram language learning MVP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355080"/>
            <a:ext cx="4114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25E6F"/>
                </a:solidFill>
                <a:latin typeface="Apto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2029968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Demo username: @engylernerbot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75488"/>
            <a:ext cx="2057400" cy="292608"/>
          </a:xfrm>
          <a:prstGeom prst="rect">
            <a:avLst/>
          </a:prstGeom>
          <a:solidFill>
            <a:srgbClr val="109168"/>
          </a:solidFill>
          <a:ln>
            <a:solidFill>
              <a:srgbClr val="10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CASE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68580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400" b="1">
                <a:solidFill>
                  <a:srgbClr val="18212F"/>
                </a:solidFill>
                <a:latin typeface="Aptos"/>
              </a:rPr>
              <a:t>Что требовал кейс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6492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Регистрация через /start и настройка профиля</a:t>
            </a:r>
          </a:p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Изучение новых слов и фраз</a:t>
            </a:r>
          </a:p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Проверка знаний через квизы</a:t>
            </a:r>
          </a:p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Личная статистика и прогресс</a:t>
            </a:r>
          </a:p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README, Git-репозиторий, Docker-запуск и финальная демонстрация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7818120" y="1143000"/>
            <a:ext cx="3611880" cy="470916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1481328"/>
            <a:ext cx="2926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09168"/>
                </a:solidFill>
                <a:latin typeface="Aptos"/>
              </a:rPr>
              <a:t>Proof points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1965960"/>
            <a:ext cx="118872" cy="420624"/>
          </a:xfrm>
          <a:prstGeom prst="rect">
            <a:avLst/>
          </a:prstGeom>
          <a:solidFill>
            <a:srgbClr val="109168"/>
          </a:solidFill>
          <a:ln>
            <a:solidFill>
              <a:srgbClr val="10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94192" y="1947672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525E6F"/>
                </a:solidFill>
                <a:latin typeface="Aptos"/>
              </a:rPr>
              <a:t>MVP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4192" y="2157984"/>
            <a:ext cx="2514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8212F"/>
                </a:solidFill>
                <a:latin typeface="Aptos"/>
              </a:rPr>
              <a:t>registration + learning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2715768"/>
            <a:ext cx="118872" cy="420624"/>
          </a:xfrm>
          <a:prstGeom prst="rect">
            <a:avLst/>
          </a:prstGeom>
          <a:solidFill>
            <a:srgbClr val="109168"/>
          </a:solidFill>
          <a:ln>
            <a:solidFill>
              <a:srgbClr val="10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2697479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525E6F"/>
                </a:solidFill>
                <a:latin typeface="Aptos"/>
              </a:rP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2907791"/>
            <a:ext cx="2514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8212F"/>
                </a:solidFill>
                <a:latin typeface="Aptos"/>
              </a:rPr>
              <a:t>bot + repo + docs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3465575"/>
            <a:ext cx="118872" cy="420624"/>
          </a:xfrm>
          <a:prstGeom prst="rect">
            <a:avLst/>
          </a:prstGeom>
          <a:solidFill>
            <a:srgbClr val="109168"/>
          </a:solidFill>
          <a:ln>
            <a:solidFill>
              <a:srgbClr val="10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3447287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525E6F"/>
                </a:solidFill>
                <a:latin typeface="Aptos"/>
              </a:rPr>
              <a:t>Timeline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3657599"/>
            <a:ext cx="2514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8212F"/>
                </a:solidFill>
                <a:latin typeface="Aptos"/>
              </a:rPr>
              <a:t>15 weeks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4215383"/>
            <a:ext cx="118872" cy="420624"/>
          </a:xfrm>
          <a:prstGeom prst="rect">
            <a:avLst/>
          </a:prstGeom>
          <a:solidFill>
            <a:srgbClr val="109168"/>
          </a:solidFill>
          <a:ln>
            <a:solidFill>
              <a:srgbClr val="10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4197096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525E6F"/>
                </a:solidFill>
                <a:latin typeface="Aptos"/>
              </a:rPr>
              <a:t>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407407"/>
            <a:ext cx="2514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8212F"/>
                </a:solidFill>
                <a:latin typeface="Aptos"/>
              </a:rPr>
              <a:t>100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355080"/>
            <a:ext cx="5029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25E6F"/>
                </a:solidFill>
                <a:latin typeface="Aptos"/>
              </a:rPr>
              <a:t>EngyBot | Telegram language learning MVP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355080"/>
            <a:ext cx="4114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25E6F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75488"/>
            <a:ext cx="2057400" cy="292608"/>
          </a:xfrm>
          <a:prstGeom prst="rect">
            <a:avLst/>
          </a:prstGeom>
          <a:solidFill>
            <a:srgbClr val="EA7829"/>
          </a:solidFill>
          <a:ln>
            <a:solidFill>
              <a:srgbClr val="EA78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PRODUCT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68580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400" b="1">
                <a:solidFill>
                  <a:srgbClr val="18212F"/>
                </a:solidFill>
                <a:latin typeface="Aptos"/>
              </a:rPr>
              <a:t>Продуктовая идея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6492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Пользователь учится короткими сессиями без отдельного приложения</a:t>
            </a:r>
          </a:p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Контент фильтруется по уровню A1-C2</a:t>
            </a:r>
          </a:p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Ошибки превращаются в персональный review</a:t>
            </a:r>
          </a:p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Daily practice закрепляет регулярность и retention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818120" y="1143000"/>
            <a:ext cx="3611880" cy="470916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1481328"/>
            <a:ext cx="2926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EA7829"/>
                </a:solidFill>
                <a:latin typeface="Aptos"/>
              </a:rPr>
              <a:t>Proof points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1965960"/>
            <a:ext cx="118872" cy="420624"/>
          </a:xfrm>
          <a:prstGeom prst="rect">
            <a:avLst/>
          </a:prstGeom>
          <a:solidFill>
            <a:srgbClr val="EA7829"/>
          </a:solidFill>
          <a:ln>
            <a:solidFill>
              <a:srgbClr val="EA78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94192" y="1947672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525E6F"/>
                </a:solidFill>
                <a:latin typeface="Aptos"/>
              </a:rPr>
              <a:t>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4192" y="2157984"/>
            <a:ext cx="2514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8212F"/>
                </a:solidFill>
                <a:latin typeface="Aptos"/>
              </a:rPr>
              <a:t>Product Idea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2715768"/>
            <a:ext cx="118872" cy="420624"/>
          </a:xfrm>
          <a:prstGeom prst="rect">
            <a:avLst/>
          </a:prstGeom>
          <a:solidFill>
            <a:srgbClr val="EA7829"/>
          </a:solidFill>
          <a:ln>
            <a:solidFill>
              <a:srgbClr val="EA78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2697479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525E6F"/>
                </a:solidFill>
                <a:latin typeface="Aptos"/>
              </a:rPr>
              <a:t>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2907791"/>
            <a:ext cx="2514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8212F"/>
                </a:solidFill>
                <a:latin typeface="Aptos"/>
              </a:rPr>
              <a:t>implemented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3465575"/>
            <a:ext cx="118872" cy="420624"/>
          </a:xfrm>
          <a:prstGeom prst="rect">
            <a:avLst/>
          </a:prstGeom>
          <a:solidFill>
            <a:srgbClr val="EA7829"/>
          </a:solidFill>
          <a:ln>
            <a:solidFill>
              <a:srgbClr val="EA78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3447287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525E6F"/>
                </a:solidFill>
                <a:latin typeface="Aptos"/>
              </a:rPr>
              <a:t>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3657599"/>
            <a:ext cx="2514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8212F"/>
                </a:solidFill>
                <a:latin typeface="Aptos"/>
              </a:rPr>
              <a:t>MVP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4215383"/>
            <a:ext cx="118872" cy="420624"/>
          </a:xfrm>
          <a:prstGeom prst="rect">
            <a:avLst/>
          </a:prstGeom>
          <a:solidFill>
            <a:srgbClr val="EA7829"/>
          </a:solidFill>
          <a:ln>
            <a:solidFill>
              <a:srgbClr val="EA78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4197096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525E6F"/>
                </a:solidFill>
                <a:latin typeface="Aptos"/>
              </a:rPr>
              <a:t>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407407"/>
            <a:ext cx="2514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8212F"/>
                </a:solidFill>
                <a:latin typeface="Aptos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355080"/>
            <a:ext cx="5029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25E6F"/>
                </a:solidFill>
                <a:latin typeface="Aptos"/>
              </a:rPr>
              <a:t>EngyBot | Telegram language learning MVP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355080"/>
            <a:ext cx="4114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25E6F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75488"/>
            <a:ext cx="2057400" cy="29260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USER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68580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400" b="1">
                <a:solidFill>
                  <a:srgbClr val="18212F"/>
                </a:solidFill>
                <a:latin typeface="Aptos"/>
              </a:rPr>
              <a:t>Основной сценарий пользователя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6492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/start -&gt; onboarding</a:t>
            </a:r>
          </a:p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Выбор родного языка, изучаемого языка и CEFR-уровня</a:t>
            </a:r>
          </a:p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Главное меню: Course, Practice, Review, Profile, Progress, Help</a:t>
            </a:r>
          </a:p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Результаты сохраняются и используются в повторении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7818120" y="1143000"/>
            <a:ext cx="3611880" cy="470916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1481328"/>
            <a:ext cx="2926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Aptos"/>
              </a:rPr>
              <a:t>Proof points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1965960"/>
            <a:ext cx="118872" cy="42062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94192" y="1947672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525E6F"/>
                </a:solidFill>
                <a:latin typeface="Aptos"/>
              </a:rPr>
              <a:t>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4192" y="2157984"/>
            <a:ext cx="2514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8212F"/>
                </a:solidFill>
                <a:latin typeface="Aptos"/>
              </a:rPr>
              <a:t>User 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2715768"/>
            <a:ext cx="118872" cy="42062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2697479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525E6F"/>
                </a:solidFill>
                <a:latin typeface="Aptos"/>
              </a:rPr>
              <a:t>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2907791"/>
            <a:ext cx="2514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8212F"/>
                </a:solidFill>
                <a:latin typeface="Aptos"/>
              </a:rPr>
              <a:t>implemented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3465575"/>
            <a:ext cx="118872" cy="42062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3447287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525E6F"/>
                </a:solidFill>
                <a:latin typeface="Aptos"/>
              </a:rPr>
              <a:t>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3657599"/>
            <a:ext cx="2514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8212F"/>
                </a:solidFill>
                <a:latin typeface="Aptos"/>
              </a:rPr>
              <a:t>MVP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4215383"/>
            <a:ext cx="118872" cy="42062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4197096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525E6F"/>
                </a:solidFill>
                <a:latin typeface="Aptos"/>
              </a:rPr>
              <a:t>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407407"/>
            <a:ext cx="2514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8212F"/>
                </a:solidFill>
                <a:latin typeface="Aptos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355080"/>
            <a:ext cx="5029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25E6F"/>
                </a:solidFill>
                <a:latin typeface="Aptos"/>
              </a:rPr>
              <a:t>EngyBot | Telegram language learning MVP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355080"/>
            <a:ext cx="4114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25E6F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75488"/>
            <a:ext cx="2057400" cy="292608"/>
          </a:xfrm>
          <a:prstGeom prst="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68580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400" b="1">
                <a:solidFill>
                  <a:srgbClr val="18212F"/>
                </a:solidFill>
                <a:latin typeface="Aptos"/>
              </a:rPr>
              <a:t>Архитектура решения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6492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Telegram выступает клиентским интерфейсом</a:t>
            </a:r>
          </a:p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aiogram маршрутизирует команды и callback-запросы</a:t>
            </a:r>
          </a:p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handlers реализуют сценарии меню, курса и практики</a:t>
            </a:r>
          </a:p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services загружают контент и подбирают задания</a:t>
            </a:r>
          </a:p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PostgreSQL хранит пользователей, попытки и прогресс</a:t>
            </a:r>
          </a:p>
        </p:txBody>
      </p:sp>
      <p:sp>
        <p:nvSpPr>
          <p:cNvPr id="5" name="Rectangle 4"/>
          <p:cNvSpPr/>
          <p:nvPr/>
        </p:nvSpPr>
        <p:spPr>
          <a:xfrm>
            <a:off x="7818120" y="1143000"/>
            <a:ext cx="3611880" cy="470916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1481328"/>
            <a:ext cx="2926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6D28D9"/>
                </a:solidFill>
                <a:latin typeface="Aptos"/>
              </a:rPr>
              <a:t>Proof points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1965960"/>
            <a:ext cx="118872" cy="420624"/>
          </a:xfrm>
          <a:prstGeom prst="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94192" y="1947672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525E6F"/>
                </a:solidFill>
                <a:latin typeface="Aptos"/>
              </a:rPr>
              <a:t>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4192" y="2157984"/>
            <a:ext cx="2514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8212F"/>
                </a:solidFill>
                <a:latin typeface="Aptos"/>
              </a:rPr>
              <a:t>handlers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2715768"/>
            <a:ext cx="118872" cy="420624"/>
          </a:xfrm>
          <a:prstGeom prst="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2697479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525E6F"/>
                </a:solidFill>
                <a:latin typeface="Aptos"/>
              </a:rPr>
              <a:t>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2907791"/>
            <a:ext cx="2514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8212F"/>
                </a:solidFill>
                <a:latin typeface="Aptos"/>
              </a:rPr>
              <a:t>services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3465575"/>
            <a:ext cx="118872" cy="420624"/>
          </a:xfrm>
          <a:prstGeom prst="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3447287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525E6F"/>
                </a:solidFill>
                <a:latin typeface="Aptos"/>
              </a:rPr>
              <a:t>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3657599"/>
            <a:ext cx="2514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8212F"/>
                </a:solidFill>
                <a:latin typeface="Aptos"/>
              </a:rPr>
              <a:t>FSM + DB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4215383"/>
            <a:ext cx="118872" cy="420624"/>
          </a:xfrm>
          <a:prstGeom prst="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4197096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525E6F"/>
                </a:solidFill>
                <a:latin typeface="Aptos"/>
              </a:rPr>
              <a:t>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407407"/>
            <a:ext cx="2514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8212F"/>
                </a:solidFill>
                <a:latin typeface="Aptos"/>
              </a:rPr>
              <a:t>SQLAlchemy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355080"/>
            <a:ext cx="5029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25E6F"/>
                </a:solidFill>
                <a:latin typeface="Aptos"/>
              </a:rPr>
              <a:t>EngyBot | Telegram language learning MVP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355080"/>
            <a:ext cx="4114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25E6F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75488"/>
            <a:ext cx="2057400" cy="292608"/>
          </a:xfrm>
          <a:prstGeom prst="rect">
            <a:avLst/>
          </a:prstGeom>
          <a:solidFill>
            <a:srgbClr val="109168"/>
          </a:solidFill>
          <a:ln>
            <a:solidFill>
              <a:srgbClr val="10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68580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400" b="1">
                <a:solidFill>
                  <a:srgbClr val="18212F"/>
                </a:solidFill>
                <a:latin typeface="Aptos"/>
              </a:rPr>
              <a:t>Схема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6492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users: Telegram-профиль, языки, уровень, bilingual UI</a:t>
            </a:r>
          </a:p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word_sets и words: словарные темы и элементы</a:t>
            </a:r>
          </a:p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training_attempts: завершенные квизы</a:t>
            </a:r>
          </a:p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user_word_progress: ошибки и прогресс по словам</a:t>
            </a:r>
          </a:p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daily_practices: стабильная практика дня</a:t>
            </a:r>
          </a:p>
        </p:txBody>
      </p:sp>
      <p:sp>
        <p:nvSpPr>
          <p:cNvPr id="5" name="Rectangle 4"/>
          <p:cNvSpPr/>
          <p:nvPr/>
        </p:nvSpPr>
        <p:spPr>
          <a:xfrm>
            <a:off x="7818120" y="1143000"/>
            <a:ext cx="3611880" cy="470916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1481328"/>
            <a:ext cx="2926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09168"/>
                </a:solidFill>
                <a:latin typeface="Aptos"/>
              </a:rPr>
              <a:t>Proof points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1965960"/>
            <a:ext cx="118872" cy="420624"/>
          </a:xfrm>
          <a:prstGeom prst="rect">
            <a:avLst/>
          </a:prstGeom>
          <a:solidFill>
            <a:srgbClr val="109168"/>
          </a:solidFill>
          <a:ln>
            <a:solidFill>
              <a:srgbClr val="10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94192" y="1947672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525E6F"/>
                </a:solidFill>
                <a:latin typeface="Aptos"/>
              </a:rPr>
              <a:t>Tables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4192" y="2157984"/>
            <a:ext cx="2514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8212F"/>
                </a:solidFill>
                <a:latin typeface="Aptos"/>
              </a:rPr>
              <a:t>6 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2715768"/>
            <a:ext cx="118872" cy="420624"/>
          </a:xfrm>
          <a:prstGeom prst="rect">
            <a:avLst/>
          </a:prstGeom>
          <a:solidFill>
            <a:srgbClr val="109168"/>
          </a:solidFill>
          <a:ln>
            <a:solidFill>
              <a:srgbClr val="10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2697479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525E6F"/>
                </a:solidFill>
                <a:latin typeface="Aptos"/>
              </a:rPr>
              <a:t>Progress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2907791"/>
            <a:ext cx="2514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8212F"/>
                </a:solidFill>
                <a:latin typeface="Aptos"/>
              </a:rPr>
              <a:t>per word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3465575"/>
            <a:ext cx="118872" cy="420624"/>
          </a:xfrm>
          <a:prstGeom prst="rect">
            <a:avLst/>
          </a:prstGeom>
          <a:solidFill>
            <a:srgbClr val="109168"/>
          </a:solidFill>
          <a:ln>
            <a:solidFill>
              <a:srgbClr val="10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3447287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525E6F"/>
                </a:solidFill>
                <a:latin typeface="Aptos"/>
              </a:rPr>
              <a:t>Daily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3657599"/>
            <a:ext cx="2514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8212F"/>
                </a:solidFill>
                <a:latin typeface="Aptos"/>
              </a:rPr>
              <a:t>per date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4215383"/>
            <a:ext cx="118872" cy="420624"/>
          </a:xfrm>
          <a:prstGeom prst="rect">
            <a:avLst/>
          </a:prstGeom>
          <a:solidFill>
            <a:srgbClr val="109168"/>
          </a:solidFill>
          <a:ln>
            <a:solidFill>
              <a:srgbClr val="10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4197096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525E6F"/>
                </a:solidFill>
                <a:latin typeface="Aptos"/>
              </a:rPr>
              <a:t>Seed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407407"/>
            <a:ext cx="2514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8212F"/>
                </a:solidFill>
                <a:latin typeface="Aptos"/>
              </a:rPr>
              <a:t>JSON + 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355080"/>
            <a:ext cx="5029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25E6F"/>
                </a:solidFill>
                <a:latin typeface="Aptos"/>
              </a:rPr>
              <a:t>EngyBot | Telegram language learning MVP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355080"/>
            <a:ext cx="4114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25E6F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75488"/>
            <a:ext cx="2057400" cy="29260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COURSE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68580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400" b="1">
                <a:solidFill>
                  <a:srgbClr val="18212F"/>
                </a:solidFill>
                <a:latin typeface="Aptos"/>
              </a:rPr>
              <a:t>Учебный раздел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6492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Course units связывают vocabulary, grammar и dialogues</a:t>
            </a:r>
          </a:p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Vocabulary topics масштабируются через уровни</a:t>
            </a:r>
          </a:p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Grammar units покрывают A1-C2</a:t>
            </a:r>
          </a:p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Dialogues загружаются из JSON seed</a:t>
            </a:r>
          </a:p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Bilingual UI помогает видеть целевой и родной язык</a:t>
            </a:r>
          </a:p>
        </p:txBody>
      </p:sp>
      <p:sp>
        <p:nvSpPr>
          <p:cNvPr id="5" name="Rectangle 4"/>
          <p:cNvSpPr/>
          <p:nvPr/>
        </p:nvSpPr>
        <p:spPr>
          <a:xfrm>
            <a:off x="7818120" y="1143000"/>
            <a:ext cx="3611880" cy="470916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1481328"/>
            <a:ext cx="2926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Aptos"/>
              </a:rPr>
              <a:t>Proof points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1965960"/>
            <a:ext cx="118872" cy="42062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94192" y="1947672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525E6F"/>
                </a:solidFill>
                <a:latin typeface="Aptos"/>
              </a:rPr>
              <a:t>Units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4192" y="2157984"/>
            <a:ext cx="2514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8212F"/>
                </a:solidFill>
                <a:latin typeface="Aptos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2715768"/>
            <a:ext cx="118872" cy="42062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2697479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525E6F"/>
                </a:solidFill>
                <a:latin typeface="Aptos"/>
              </a:rPr>
              <a:t>Grammar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2907791"/>
            <a:ext cx="2514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8212F"/>
                </a:solidFill>
                <a:latin typeface="Aptos"/>
              </a:rPr>
              <a:t>28 blocks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3465575"/>
            <a:ext cx="118872" cy="42062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3447287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525E6F"/>
                </a:solidFill>
                <a:latin typeface="Aptos"/>
              </a:rPr>
              <a:t>Dialogues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3657599"/>
            <a:ext cx="2514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8212F"/>
                </a:solidFill>
                <a:latin typeface="Aptos"/>
              </a:rPr>
              <a:t>15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4215383"/>
            <a:ext cx="118872" cy="42062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4197096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525E6F"/>
                </a:solidFill>
                <a:latin typeface="Aptos"/>
              </a:rPr>
              <a:t>Levels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407407"/>
            <a:ext cx="2514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8212F"/>
                </a:solidFill>
                <a:latin typeface="Aptos"/>
              </a:rPr>
              <a:t>A1-C2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355080"/>
            <a:ext cx="5029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25E6F"/>
                </a:solidFill>
                <a:latin typeface="Aptos"/>
              </a:rPr>
              <a:t>EngyBot | Telegram language learning MVP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355080"/>
            <a:ext cx="4114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25E6F"/>
                </a:solidFill>
                <a:latin typeface="Aptos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230368"/>
            <a:ext cx="6492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8212F"/>
                </a:solidFill>
                <a:latin typeface="Aptos"/>
              </a:defRPr>
            </a:pPr>
            <a:r>
              <a:t>Each dialogue ends with a comprehension task and feedback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75488"/>
            <a:ext cx="2057400" cy="292608"/>
          </a:xfrm>
          <a:prstGeom prst="rect">
            <a:avLst/>
          </a:prstGeom>
          <a:solidFill>
            <a:srgbClr val="EA7829"/>
          </a:solidFill>
          <a:ln>
            <a:solidFill>
              <a:srgbClr val="EA78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68580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400" b="1">
                <a:solidFill>
                  <a:srgbClr val="18212F"/>
                </a:solidFill>
                <a:latin typeface="Aptos"/>
              </a:rPr>
              <a:t>Практика и квизы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6492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Mixed quiz по выбранной теме</a:t>
            </a:r>
          </a:p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Форматы: choice, gap fill, definition, match</a:t>
            </a:r>
          </a:p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Immediate feedback после каждого ответа</a:t>
            </a:r>
          </a:p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Daily practice восстанавливает тот же набор в течение дня</a:t>
            </a:r>
          </a:p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Результаты попадают в статистику и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818120" y="1143000"/>
            <a:ext cx="3611880" cy="470916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1481328"/>
            <a:ext cx="2926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EA7829"/>
                </a:solidFill>
                <a:latin typeface="Aptos"/>
              </a:rPr>
              <a:t>Proof points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1965960"/>
            <a:ext cx="118872" cy="420624"/>
          </a:xfrm>
          <a:prstGeom prst="rect">
            <a:avLst/>
          </a:prstGeom>
          <a:solidFill>
            <a:srgbClr val="EA7829"/>
          </a:solidFill>
          <a:ln>
            <a:solidFill>
              <a:srgbClr val="EA78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94192" y="1947672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525E6F"/>
                </a:solidFill>
                <a:latin typeface="Aptos"/>
              </a:rPr>
              <a:t>Formats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4192" y="2157984"/>
            <a:ext cx="2514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8212F"/>
                </a:solidFill>
                <a:latin typeface="Aptos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2715768"/>
            <a:ext cx="118872" cy="420624"/>
          </a:xfrm>
          <a:prstGeom prst="rect">
            <a:avLst/>
          </a:prstGeom>
          <a:solidFill>
            <a:srgbClr val="EA7829"/>
          </a:solidFill>
          <a:ln>
            <a:solidFill>
              <a:srgbClr val="EA78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2697479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525E6F"/>
                </a:solidFill>
                <a:latin typeface="Aptos"/>
              </a:rPr>
              <a:t>Feedback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2907791"/>
            <a:ext cx="2514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8212F"/>
                </a:solidFill>
                <a:latin typeface="Aptos"/>
              </a:rPr>
              <a:t>instant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3465575"/>
            <a:ext cx="118872" cy="420624"/>
          </a:xfrm>
          <a:prstGeom prst="rect">
            <a:avLst/>
          </a:prstGeom>
          <a:solidFill>
            <a:srgbClr val="EA7829"/>
          </a:solidFill>
          <a:ln>
            <a:solidFill>
              <a:srgbClr val="EA78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3447287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525E6F"/>
                </a:solidFill>
                <a:latin typeface="Aptos"/>
              </a:rPr>
              <a:t>Daily 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3657599"/>
            <a:ext cx="2514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8212F"/>
                </a:solidFill>
                <a:latin typeface="Aptos"/>
              </a:rPr>
              <a:t>stable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4215383"/>
            <a:ext cx="118872" cy="420624"/>
          </a:xfrm>
          <a:prstGeom prst="rect">
            <a:avLst/>
          </a:prstGeom>
          <a:solidFill>
            <a:srgbClr val="EA7829"/>
          </a:solidFill>
          <a:ln>
            <a:solidFill>
              <a:srgbClr val="EA78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4197096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525E6F"/>
                </a:solidFill>
                <a:latin typeface="Aptos"/>
              </a:rPr>
              <a:t>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407407"/>
            <a:ext cx="2514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8212F"/>
                </a:solidFill>
                <a:latin typeface="Aptos"/>
              </a:rPr>
              <a:t>mistakes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355080"/>
            <a:ext cx="5029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25E6F"/>
                </a:solidFill>
                <a:latin typeface="Aptos"/>
              </a:rPr>
              <a:t>EngyBot | Telegram language learning MVP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355080"/>
            <a:ext cx="4114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25E6F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75488"/>
            <a:ext cx="2057400" cy="292608"/>
          </a:xfrm>
          <a:prstGeom prst="rect">
            <a:avLst/>
          </a:prstGeom>
          <a:solidFill>
            <a:srgbClr val="109168"/>
          </a:solidFill>
          <a:ln>
            <a:solidFill>
              <a:srgbClr val="10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REVIEW &amp;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68580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400" b="1">
                <a:solidFill>
                  <a:srgbClr val="18212F"/>
                </a:solidFill>
                <a:latin typeface="Aptos"/>
              </a:rPr>
              <a:t>Review и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6492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Weak words строятся на реальных ошибках пользователя</a:t>
            </a:r>
          </a:p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Mistake quiz повторяет проблемные слова</a:t>
            </a:r>
          </a:p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Progress показывает попытки, точность и слабые слова</a:t>
            </a:r>
          </a:p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Topic progress считает освоение по словарным темам</a:t>
            </a:r>
          </a:p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Daily goal и streak поддерживают регулярность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7818120" y="1143000"/>
            <a:ext cx="3611880" cy="470916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1481328"/>
            <a:ext cx="2926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09168"/>
                </a:solidFill>
                <a:latin typeface="Aptos"/>
              </a:rPr>
              <a:t>Proof points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1965960"/>
            <a:ext cx="118872" cy="420624"/>
          </a:xfrm>
          <a:prstGeom prst="rect">
            <a:avLst/>
          </a:prstGeom>
          <a:solidFill>
            <a:srgbClr val="109168"/>
          </a:solidFill>
          <a:ln>
            <a:solidFill>
              <a:srgbClr val="10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94192" y="1947672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525E6F"/>
                </a:solidFill>
                <a:latin typeface="Aptos"/>
              </a:rPr>
              <a:t>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4192" y="2157984"/>
            <a:ext cx="2514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8212F"/>
                </a:solidFill>
                <a:latin typeface="Aptos"/>
              </a:rPr>
              <a:t>Review &amp; Progress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2715768"/>
            <a:ext cx="118872" cy="420624"/>
          </a:xfrm>
          <a:prstGeom prst="rect">
            <a:avLst/>
          </a:prstGeom>
          <a:solidFill>
            <a:srgbClr val="109168"/>
          </a:solidFill>
          <a:ln>
            <a:solidFill>
              <a:srgbClr val="10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2697479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525E6F"/>
                </a:solidFill>
                <a:latin typeface="Aptos"/>
              </a:rPr>
              <a:t>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2907791"/>
            <a:ext cx="2514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8212F"/>
                </a:solidFill>
                <a:latin typeface="Aptos"/>
              </a:rPr>
              <a:t>implemented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3465575"/>
            <a:ext cx="118872" cy="420624"/>
          </a:xfrm>
          <a:prstGeom prst="rect">
            <a:avLst/>
          </a:prstGeom>
          <a:solidFill>
            <a:srgbClr val="109168"/>
          </a:solidFill>
          <a:ln>
            <a:solidFill>
              <a:srgbClr val="10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3447287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525E6F"/>
                </a:solidFill>
                <a:latin typeface="Aptos"/>
              </a:rPr>
              <a:t>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3657599"/>
            <a:ext cx="2514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8212F"/>
                </a:solidFill>
                <a:latin typeface="Aptos"/>
              </a:rPr>
              <a:t>MVP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4215383"/>
            <a:ext cx="118872" cy="420624"/>
          </a:xfrm>
          <a:prstGeom prst="rect">
            <a:avLst/>
          </a:prstGeom>
          <a:solidFill>
            <a:srgbClr val="109168"/>
          </a:solidFill>
          <a:ln>
            <a:solidFill>
              <a:srgbClr val="10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4197096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525E6F"/>
                </a:solidFill>
                <a:latin typeface="Aptos"/>
              </a:rPr>
              <a:t>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407407"/>
            <a:ext cx="2514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8212F"/>
                </a:solidFill>
                <a:latin typeface="Aptos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355080"/>
            <a:ext cx="5029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25E6F"/>
                </a:solidFill>
                <a:latin typeface="Aptos"/>
              </a:rPr>
              <a:t>EngyBot | Telegram language learning MVP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355080"/>
            <a:ext cx="4114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25E6F"/>
                </a:solidFill>
                <a:latin typeface="Aptos"/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230368"/>
            <a:ext cx="6492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8212F"/>
                </a:solidFill>
                <a:latin typeface="Aptos"/>
              </a:defRPr>
            </a:pPr>
            <a:r>
              <a:t>Spaced repetition schedules the next review by mastery level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75488"/>
            <a:ext cx="2057400" cy="292608"/>
          </a:xfrm>
          <a:prstGeom prst="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TEAM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68580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400" b="1">
                <a:solidFill>
                  <a:srgbClr val="18212F"/>
                </a:solidFill>
                <a:latin typeface="Aptos"/>
              </a:rPr>
              <a:t>Вклад команды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6492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Backend: архитектура, БД, Docker, handlers, FSM и логика квизов</a:t>
            </a:r>
          </a:p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Content/UX: словарь, grammar units, course units, dialogues и сценарии</a:t>
            </a:r>
          </a:p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Документация: README, architecture, database, user-flow, backlog</a:t>
            </a:r>
          </a:p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Тестирование: проверка веток меню, контента и пользовательских сценариев</a:t>
            </a:r>
          </a:p>
        </p:txBody>
      </p:sp>
      <p:sp>
        <p:nvSpPr>
          <p:cNvPr id="5" name="Rectangle 4"/>
          <p:cNvSpPr/>
          <p:nvPr/>
        </p:nvSpPr>
        <p:spPr>
          <a:xfrm>
            <a:off x="7818120" y="1143000"/>
            <a:ext cx="3611880" cy="470916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1481328"/>
            <a:ext cx="2926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6D28D9"/>
                </a:solidFill>
                <a:latin typeface="Aptos"/>
              </a:rPr>
              <a:t>Proof points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1965960"/>
            <a:ext cx="118872" cy="420624"/>
          </a:xfrm>
          <a:prstGeom prst="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94192" y="1947672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525E6F"/>
                </a:solidFill>
                <a:latin typeface="Aptos"/>
              </a:rPr>
              <a:t>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4192" y="2157984"/>
            <a:ext cx="2514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8212F"/>
                </a:solidFill>
                <a:latin typeface="Aptos"/>
              </a:rPr>
              <a:t>Team 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2715768"/>
            <a:ext cx="118872" cy="420624"/>
          </a:xfrm>
          <a:prstGeom prst="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2697479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525E6F"/>
                </a:solidFill>
                <a:latin typeface="Aptos"/>
              </a:rPr>
              <a:t>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2907791"/>
            <a:ext cx="2514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8212F"/>
                </a:solidFill>
                <a:latin typeface="Aptos"/>
              </a:rPr>
              <a:t>implemented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3465575"/>
            <a:ext cx="118872" cy="420624"/>
          </a:xfrm>
          <a:prstGeom prst="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3447287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525E6F"/>
                </a:solidFill>
                <a:latin typeface="Aptos"/>
              </a:rPr>
              <a:t>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3657599"/>
            <a:ext cx="2514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8212F"/>
                </a:solidFill>
                <a:latin typeface="Aptos"/>
              </a:rPr>
              <a:t>MVP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4215383"/>
            <a:ext cx="118872" cy="420624"/>
          </a:xfrm>
          <a:prstGeom prst="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4197096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525E6F"/>
                </a:solidFill>
                <a:latin typeface="Aptos"/>
              </a:rPr>
              <a:t>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407407"/>
            <a:ext cx="2514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8212F"/>
                </a:solidFill>
                <a:latin typeface="Aptos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355080"/>
            <a:ext cx="5029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25E6F"/>
                </a:solidFill>
                <a:latin typeface="Aptos"/>
              </a:rPr>
              <a:t>EngyBot | Telegram language learning MVP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355080"/>
            <a:ext cx="4114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25E6F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75488"/>
            <a:ext cx="2057400" cy="29260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STABILIZATION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68580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400" b="1">
                <a:solidFill>
                  <a:srgbClr val="18212F"/>
                </a:solidFill>
                <a:latin typeface="Aptos"/>
              </a:rPr>
              <a:t>Готовность к защите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6492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Docker Compose поднимает PostgreSQL и бота</a:t>
            </a:r>
          </a:p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.env.example описывает обязательные переменные</a:t>
            </a:r>
          </a:p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Fallback для неверного текстового ввода</a:t>
            </a:r>
          </a:p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Fallback для устаревших callback-кнопок</a:t>
            </a:r>
          </a:p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JSON seed-файлы валидируются и связаны по ID</a:t>
            </a:r>
          </a:p>
        </p:txBody>
      </p:sp>
      <p:sp>
        <p:nvSpPr>
          <p:cNvPr id="5" name="Rectangle 4"/>
          <p:cNvSpPr/>
          <p:nvPr/>
        </p:nvSpPr>
        <p:spPr>
          <a:xfrm>
            <a:off x="7818120" y="1143000"/>
            <a:ext cx="3611880" cy="470916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1481328"/>
            <a:ext cx="2926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Aptos"/>
              </a:rPr>
              <a:t>Proof points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1965960"/>
            <a:ext cx="118872" cy="42062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94192" y="1947672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525E6F"/>
                </a:solidFill>
                <a:latin typeface="Aptos"/>
              </a:rPr>
              <a:t>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4192" y="2157984"/>
            <a:ext cx="2514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8212F"/>
                </a:solidFill>
                <a:latin typeface="Aptos"/>
              </a:rPr>
              <a:t>valid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2715768"/>
            <a:ext cx="118872" cy="42062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2697479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525E6F"/>
                </a:solidFill>
                <a:latin typeface="Aptos"/>
              </a:rPr>
              <a:t>Links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2907791"/>
            <a:ext cx="2514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8212F"/>
                </a:solidFill>
                <a:latin typeface="Aptos"/>
              </a:rPr>
              <a:t>checked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3465575"/>
            <a:ext cx="118872" cy="42062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3447287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525E6F"/>
                </a:solidFill>
                <a:latin typeface="Aptos"/>
              </a:rPr>
              <a:t>Compile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3657599"/>
            <a:ext cx="2514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8212F"/>
                </a:solidFill>
                <a:latin typeface="Aptos"/>
              </a:rPr>
              <a:t>passed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4215383"/>
            <a:ext cx="118872" cy="42062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4197096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525E6F"/>
                </a:solidFill>
                <a:latin typeface="Aptos"/>
              </a:rPr>
              <a:t>Fallbacks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407407"/>
            <a:ext cx="2514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8212F"/>
                </a:solidFill>
                <a:latin typeface="Aptos"/>
              </a:rPr>
              <a:t>added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355080"/>
            <a:ext cx="5029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25E6F"/>
                </a:solidFill>
                <a:latin typeface="Aptos"/>
              </a:rPr>
              <a:t>EngyBot | Telegram language learning MVP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355080"/>
            <a:ext cx="4114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25E6F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75488"/>
            <a:ext cx="2057400" cy="292608"/>
          </a:xfrm>
          <a:prstGeom prst="rect">
            <a:avLst/>
          </a:prstGeom>
          <a:solidFill>
            <a:srgbClr val="EA7829"/>
          </a:solidFill>
          <a:ln>
            <a:solidFill>
              <a:srgbClr val="EA78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DEMO 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68580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400" b="1">
                <a:solidFill>
                  <a:srgbClr val="18212F"/>
                </a:solidFill>
                <a:latin typeface="Aptos"/>
              </a:rPr>
              <a:t>Сценарий живой демонстрации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6492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1. Запустить /start и пройти onboarding</a:t>
            </a:r>
          </a:p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2. Открыть Course -&gt; Units</a:t>
            </a:r>
          </a:p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3. Показать vocabulary card и grammar unit</a:t>
            </a:r>
          </a:p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4. Открыть dialogue и пройти реплики</a:t>
            </a:r>
          </a:p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5. Пройти quiz и увидеть feedback</a:t>
            </a:r>
          </a:p>
          <a:p>
            <a:pPr>
              <a:spcAft>
                <a:spcPts val="1200"/>
              </a:spcAft>
              <a:defRPr sz="2000">
                <a:solidFill>
                  <a:srgbClr val="18212F"/>
                </a:solidFill>
                <a:latin typeface="Aptos"/>
              </a:defRPr>
            </a:pPr>
            <a:r>
              <a:t>6. Показать Review и Progress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818120" y="1143000"/>
            <a:ext cx="3611880" cy="470916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1481328"/>
            <a:ext cx="2926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EA7829"/>
                </a:solidFill>
                <a:latin typeface="Aptos"/>
              </a:rPr>
              <a:t>Proof points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1965960"/>
            <a:ext cx="118872" cy="420624"/>
          </a:xfrm>
          <a:prstGeom prst="rect">
            <a:avLst/>
          </a:prstGeom>
          <a:solidFill>
            <a:srgbClr val="EA7829"/>
          </a:solidFill>
          <a:ln>
            <a:solidFill>
              <a:srgbClr val="EA78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94192" y="1947672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525E6F"/>
                </a:solidFill>
                <a:latin typeface="Aptos"/>
              </a:rPr>
              <a:t>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4192" y="2157984"/>
            <a:ext cx="2514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8212F"/>
                </a:solidFill>
                <a:latin typeface="Aptos"/>
              </a:rPr>
              <a:t>Demo Script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2715768"/>
            <a:ext cx="118872" cy="420624"/>
          </a:xfrm>
          <a:prstGeom prst="rect">
            <a:avLst/>
          </a:prstGeom>
          <a:solidFill>
            <a:srgbClr val="EA7829"/>
          </a:solidFill>
          <a:ln>
            <a:solidFill>
              <a:srgbClr val="EA78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2697479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525E6F"/>
                </a:solidFill>
                <a:latin typeface="Aptos"/>
              </a:rPr>
              <a:t>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2907791"/>
            <a:ext cx="2514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8212F"/>
                </a:solidFill>
                <a:latin typeface="Aptos"/>
              </a:rPr>
              <a:t>implemented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3465575"/>
            <a:ext cx="118872" cy="420624"/>
          </a:xfrm>
          <a:prstGeom prst="rect">
            <a:avLst/>
          </a:prstGeom>
          <a:solidFill>
            <a:srgbClr val="EA7829"/>
          </a:solidFill>
          <a:ln>
            <a:solidFill>
              <a:srgbClr val="EA78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3447287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525E6F"/>
                </a:solidFill>
                <a:latin typeface="Aptos"/>
              </a:rPr>
              <a:t>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3657599"/>
            <a:ext cx="2514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8212F"/>
                </a:solidFill>
                <a:latin typeface="Aptos"/>
              </a:rPr>
              <a:t>MVP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4215383"/>
            <a:ext cx="118872" cy="420624"/>
          </a:xfrm>
          <a:prstGeom prst="rect">
            <a:avLst/>
          </a:prstGeom>
          <a:solidFill>
            <a:srgbClr val="EA7829"/>
          </a:solidFill>
          <a:ln>
            <a:solidFill>
              <a:srgbClr val="EA78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4197096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525E6F"/>
                </a:solidFill>
                <a:latin typeface="Aptos"/>
              </a:rPr>
              <a:t>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407407"/>
            <a:ext cx="2514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8212F"/>
                </a:solidFill>
                <a:latin typeface="Aptos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355080"/>
            <a:ext cx="5029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25E6F"/>
                </a:solidFill>
                <a:latin typeface="Aptos"/>
              </a:rPr>
              <a:t>EngyBot | Telegram language learning MVP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355080"/>
            <a:ext cx="4114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25E6F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